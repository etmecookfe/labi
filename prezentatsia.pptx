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4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1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4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9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3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7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6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34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C5B9688-28B2-49CE-8BD3-0A5369AAA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062888" y="-798159"/>
            <a:ext cx="5330951" cy="6927272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896C11-F8DF-437A-B349-8AFD602D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791199" y="-1219198"/>
            <a:ext cx="5181601" cy="76200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4572000" cy="2286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dirty="0">
                <a:latin typeface="Times New Roman"/>
                <a:cs typeface="Times New Roman"/>
              </a:rPr>
              <a:t>АО С3 </a:t>
            </a:r>
            <a:r>
              <a:rPr lang="en-US" sz="4400" dirty="0" err="1">
                <a:latin typeface="Times New Roman"/>
                <a:cs typeface="Times New Roman"/>
              </a:rPr>
              <a:t>Центр-Инвест</a:t>
            </a:r>
            <a:r>
              <a:rPr lang="en-US" sz="4400" dirty="0">
                <a:latin typeface="Times New Roman"/>
                <a:cs typeface="Times New Roman"/>
              </a:rPr>
              <a:t>,  ООО ПИР-М, ИК </a:t>
            </a:r>
            <a:r>
              <a:rPr lang="en-US" sz="4400" dirty="0" err="1">
                <a:latin typeface="Times New Roman"/>
                <a:cs typeface="Times New Roman"/>
              </a:rPr>
              <a:t>Элемент</a:t>
            </a:r>
            <a:endParaRPr lang="en-US" sz="1400" dirty="0" err="1">
              <a:solidFill>
                <a:srgbClr val="000000"/>
              </a:solidFill>
              <a:latin typeface="Sitka Subheading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>
                <a:latin typeface="Times New Roman"/>
                <a:cs typeface="Times New Roman"/>
              </a:rPr>
              <a:t>Мухашев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Азамат</a:t>
            </a:r>
            <a:r>
              <a:rPr lang="en-US" dirty="0">
                <a:latin typeface="Times New Roman"/>
                <a:cs typeface="Times New Roman"/>
              </a:rPr>
              <a:t> ИТ11-25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15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A8FDA66-67B4-4DBE-8354-C26F91ADB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0 w 12191999"/>
              <a:gd name="connsiteY0" fmla="*/ 0 h 6857999"/>
              <a:gd name="connsiteX1" fmla="*/ 12191999 w 12191999"/>
              <a:gd name="connsiteY1" fmla="*/ 0 h 6857999"/>
              <a:gd name="connsiteX2" fmla="*/ 12191999 w 12191999"/>
              <a:gd name="connsiteY2" fmla="*/ 6857999 h 6857999"/>
              <a:gd name="connsiteX3" fmla="*/ 0 w 12191999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6B191-B034-DCFB-6EFA-FD203AD6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99787"/>
            <a:ext cx="4572000" cy="2286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Основными направлениями деятельности АО СЗ "Центр-Инвест» являются инвестирование в строительство жилых и нежилых объектов, осуществление функций заказчика и оказание услуг по реализации недвижимости.</a:t>
            </a:r>
          </a:p>
          <a:p>
            <a:endParaRPr lang="en-US" sz="2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red letter in a square with white text&#10;&#10;AI-generated content may be incorrect.">
            <a:extLst>
              <a:ext uri="{FF2B5EF4-FFF2-40B4-BE49-F238E27FC236}">
                <a16:creationId xmlns:a16="http://schemas.microsoft.com/office/drawing/2014/main" id="{81DFC656-784B-D44B-F26B-790801357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0" y="1924137"/>
            <a:ext cx="4565650" cy="377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23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9D8A-1279-BA90-8DFC-2318B62E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Вакансия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АО С3 </a:t>
            </a:r>
            <a:r>
              <a:rPr lang="en-US" dirty="0" err="1"/>
              <a:t>Центр-Инвест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A1D5CB-BD62-C4AB-E1F9-C8C276D2F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594" y="2286000"/>
            <a:ext cx="9142811" cy="381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0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6069A-E05F-997F-EBBB-EC0BA545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3810000" cy="3048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err="1">
                <a:latin typeface="Times New Roman"/>
                <a:ea typeface="+mj-lt"/>
                <a:cs typeface="+mj-lt"/>
              </a:rPr>
              <a:t>Компания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ООО «ПИР-М» </a:t>
            </a:r>
            <a:r>
              <a:rPr lang="en-US" sz="1800" err="1">
                <a:latin typeface="Times New Roman"/>
                <a:ea typeface="+mj-lt"/>
                <a:cs typeface="+mj-lt"/>
              </a:rPr>
              <a:t>специализируется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на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проектно-изыскательских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работах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и </a:t>
            </a:r>
            <a:r>
              <a:rPr lang="en-US" sz="1800" err="1">
                <a:latin typeface="Times New Roman"/>
                <a:ea typeface="+mj-lt"/>
                <a:cs typeface="+mj-lt"/>
              </a:rPr>
              <a:t>выполнении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функций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технического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заказчика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объектов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градостроительной</a:t>
            </a:r>
            <a:r>
              <a:rPr lang="en-US" sz="1800" dirty="0">
                <a:latin typeface="Times New Roman"/>
                <a:ea typeface="+mj-lt"/>
                <a:cs typeface="+mj-lt"/>
              </a:rPr>
              <a:t> </a:t>
            </a:r>
            <a:r>
              <a:rPr lang="en-US" sz="1800" err="1">
                <a:latin typeface="Times New Roman"/>
                <a:ea typeface="+mj-lt"/>
                <a:cs typeface="+mj-lt"/>
              </a:rPr>
              <a:t>деятельности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и </a:t>
            </a:r>
            <a:r>
              <a:rPr lang="en-US" sz="1800" err="1">
                <a:latin typeface="Times New Roman"/>
                <a:ea typeface="+mj-lt"/>
                <a:cs typeface="+mj-lt"/>
              </a:rPr>
              <a:t>архитектуры</a:t>
            </a:r>
            <a:r>
              <a:rPr lang="en-US" sz="1800" dirty="0">
                <a:latin typeface="Times New Roman"/>
                <a:ea typeface="+mj-lt"/>
                <a:cs typeface="+mj-lt"/>
              </a:rPr>
              <a:t> </a:t>
            </a:r>
            <a:r>
              <a:rPr lang="en-US" sz="1800" err="1">
                <a:latin typeface="Times New Roman"/>
                <a:ea typeface="+mj-lt"/>
                <a:cs typeface="+mj-lt"/>
              </a:rPr>
              <a:t>города</a:t>
            </a:r>
            <a:r>
              <a:rPr lang="en-US" sz="1800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err="1">
                <a:latin typeface="Times New Roman"/>
                <a:ea typeface="+mj-lt"/>
                <a:cs typeface="+mj-lt"/>
              </a:rPr>
              <a:t>Москвы</a:t>
            </a:r>
            <a:r>
              <a:rPr lang="en-US" sz="1800" dirty="0">
                <a:latin typeface="Times New Roman"/>
                <a:ea typeface="+mj-lt"/>
                <a:cs typeface="+mj-lt"/>
              </a:rPr>
              <a:t>.</a:t>
            </a:r>
            <a:endParaRPr lang="en-US" sz="1800" dirty="0">
              <a:latin typeface="Times New Roman"/>
              <a:ea typeface="+mj-ea"/>
              <a:cs typeface="+mj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798D3DD-23B7-41EE-9021-C8F9A8E2C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072688-BFC7-4FE8-A45E-B3C63CBB9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3002ED9-43C6-4BA8-8941-9AFCB04E4D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EB09750-C9B1-40CE-AB9B-FEB308A1F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pic>
        <p:nvPicPr>
          <p:cNvPr id="4" name="Content Placeholder 3" descr="A red circle with black and white text&#10;&#10;AI-generated content may be incorrect.">
            <a:extLst>
              <a:ext uri="{FF2B5EF4-FFF2-40B4-BE49-F238E27FC236}">
                <a16:creationId xmlns:a16="http://schemas.microsoft.com/office/drawing/2014/main" id="{EEFAA3B7-6ED6-3BA6-CF7B-82C3478EB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5237" b="-1"/>
          <a:stretch>
            <a:fillRect/>
          </a:stretch>
        </p:blipFill>
        <p:spPr>
          <a:xfrm>
            <a:off x="5367130" y="496957"/>
            <a:ext cx="5830957" cy="510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5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1B80-F058-B181-E581-999C375D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Вакансия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 ООО ПИР-М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36C8E-C968-C22D-82EB-4CD333A6B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337" y="2656754"/>
            <a:ext cx="831532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4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15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A8FDA66-67B4-4DBE-8354-C26F91ADB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0 w 12191999"/>
              <a:gd name="connsiteY0" fmla="*/ 0 h 6857999"/>
              <a:gd name="connsiteX1" fmla="*/ 12191999 w 12191999"/>
              <a:gd name="connsiteY1" fmla="*/ 0 h 6857999"/>
              <a:gd name="connsiteX2" fmla="*/ 12191999 w 12191999"/>
              <a:gd name="connsiteY2" fmla="*/ 6857999 h 6857999"/>
              <a:gd name="connsiteX3" fmla="*/ 0 w 12191999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3C070-92C7-695C-9A92-A79DE95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65" y="2288744"/>
            <a:ext cx="4572000" cy="22860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800" b="1" i="1" dirty="0" err="1">
                <a:latin typeface="Times New Roman"/>
                <a:ea typeface="+mj-lt"/>
                <a:cs typeface="+mj-lt"/>
              </a:rPr>
              <a:t>Инжиниринговая</a:t>
            </a:r>
            <a:r>
              <a:rPr lang="en-US" sz="1800" b="1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b="1" i="1" dirty="0" err="1">
                <a:latin typeface="Times New Roman"/>
                <a:ea typeface="+mj-lt"/>
                <a:cs typeface="+mj-lt"/>
              </a:rPr>
              <a:t>компания</a:t>
            </a:r>
            <a:r>
              <a:rPr lang="en-US" sz="1800" b="1" i="1" dirty="0">
                <a:latin typeface="Times New Roman"/>
                <a:ea typeface="+mj-lt"/>
                <a:cs typeface="+mj-lt"/>
              </a:rPr>
              <a:t> «</a:t>
            </a:r>
            <a:r>
              <a:rPr lang="en-US" sz="1800" b="1" i="1" dirty="0" err="1">
                <a:latin typeface="Times New Roman"/>
                <a:ea typeface="+mj-lt"/>
                <a:cs typeface="+mj-lt"/>
              </a:rPr>
              <a:t>Элемент</a:t>
            </a:r>
            <a:r>
              <a:rPr lang="en-US" sz="1800" b="1" i="1" dirty="0">
                <a:latin typeface="Times New Roman"/>
                <a:ea typeface="+mj-lt"/>
                <a:cs typeface="+mj-lt"/>
              </a:rPr>
              <a:t>»  — 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один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из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лидеров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российского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рынка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в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сфере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управления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инвестиционно-строительными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проектами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. С 2014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года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мы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реализуем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проекты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в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различных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сегментах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недвижимости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и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инфраструктуры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, </a:t>
            </a:r>
            <a:r>
              <a:rPr lang="en-US" sz="1800" i="1" dirty="0" err="1">
                <a:latin typeface="Times New Roman"/>
                <a:ea typeface="+mj-lt"/>
                <a:cs typeface="+mj-lt"/>
              </a:rPr>
              <a:t>включая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: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i="1" err="1">
                <a:latin typeface="Times New Roman"/>
                <a:ea typeface="+mj-lt"/>
                <a:cs typeface="+mj-lt"/>
              </a:rPr>
              <a:t>коммерческую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недвижимость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i="1" err="1">
                <a:latin typeface="Times New Roman"/>
                <a:ea typeface="+mj-lt"/>
                <a:cs typeface="+mj-lt"/>
              </a:rPr>
              <a:t>промышленные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объекты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i="1" err="1">
                <a:latin typeface="Times New Roman"/>
                <a:ea typeface="+mj-lt"/>
                <a:cs typeface="+mj-lt"/>
              </a:rPr>
              <a:t>спортивные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сооружения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i="1" err="1">
                <a:latin typeface="Times New Roman"/>
                <a:ea typeface="+mj-lt"/>
                <a:cs typeface="+mj-lt"/>
              </a:rPr>
              <a:t>жилое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строительство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i="1" err="1">
                <a:latin typeface="Times New Roman"/>
                <a:ea typeface="+mj-lt"/>
                <a:cs typeface="+mj-lt"/>
              </a:rPr>
              <a:t>инфраструктурные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комплексы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и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другие</a:t>
            </a:r>
            <a:r>
              <a:rPr lang="en-US" sz="1800" i="1" dirty="0">
                <a:latin typeface="Times New Roman"/>
                <a:ea typeface="+mj-lt"/>
                <a:cs typeface="+mj-lt"/>
              </a:rPr>
              <a:t> </a:t>
            </a:r>
            <a:r>
              <a:rPr lang="en-US" sz="1800" i="1" err="1">
                <a:latin typeface="Times New Roman"/>
                <a:ea typeface="+mj-lt"/>
                <a:cs typeface="+mj-lt"/>
              </a:rPr>
              <a:t>направления</a:t>
            </a:r>
            <a:endParaRPr lang="en-US" sz="1800">
              <a:latin typeface="Times New Roman"/>
              <a:cs typeface="Times New Roman"/>
            </a:endParaRPr>
          </a:p>
          <a:p>
            <a:endParaRPr lang="en-US" kern="1200" dirty="0">
              <a:latin typeface="+mj-lt"/>
            </a:endParaRPr>
          </a:p>
        </p:txBody>
      </p:sp>
      <p:pic>
        <p:nvPicPr>
          <p:cNvPr id="4" name="Content Placeholder 3" descr="A blue and white logo&#10;&#10;AI-generated content may be incorrect.">
            <a:extLst>
              <a:ext uri="{FF2B5EF4-FFF2-40B4-BE49-F238E27FC236}">
                <a16:creationId xmlns:a16="http://schemas.microsoft.com/office/drawing/2014/main" id="{0797FF7C-6A00-F753-F649-0F73A16AA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0" y="1530350"/>
            <a:ext cx="4565650" cy="456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6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5F20-C544-E276-61AD-2BFBBE0A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Вакансия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 ИК </a:t>
            </a:r>
            <a:r>
              <a:rPr lang="en-US" dirty="0" err="1"/>
              <a:t>Элемент</a:t>
            </a:r>
            <a:endParaRPr lang="en-US" dirty="0"/>
          </a:p>
        </p:txBody>
      </p:sp>
      <p:pic>
        <p:nvPicPr>
          <p:cNvPr id="4" name="Content Placeholder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09CB051-A0E8-2F8A-DE5D-732B93277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500" y="2528167"/>
            <a:ext cx="80010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2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A32728-C5F7-449E-8F69-191DD1BC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artoon of a bird wearing a graduation cap and glasses&#10;&#10;AI-generated content may be incorrect.">
            <a:extLst>
              <a:ext uri="{FF2B5EF4-FFF2-40B4-BE49-F238E27FC236}">
                <a16:creationId xmlns:a16="http://schemas.microsoft.com/office/drawing/2014/main" id="{734BEF65-28D9-3B61-C386-72A7F56D2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0266"/>
          <a:stretch>
            <a:fillRect/>
          </a:stretch>
        </p:blipFill>
        <p:spPr>
          <a:xfrm>
            <a:off x="-2" y="-2"/>
            <a:ext cx="11429995" cy="6858001"/>
          </a:xfrm>
          <a:custGeom>
            <a:avLst/>
            <a:gdLst/>
            <a:ahLst/>
            <a:cxnLst/>
            <a:rect l="l" t="t" r="r" b="b"/>
            <a:pathLst>
              <a:path w="11429995" h="6858001">
                <a:moveTo>
                  <a:pt x="0" y="0"/>
                </a:moveTo>
                <a:lnTo>
                  <a:pt x="7624254" y="0"/>
                </a:lnTo>
                <a:lnTo>
                  <a:pt x="7862589" y="52181"/>
                </a:lnTo>
                <a:cubicBezTo>
                  <a:pt x="10504017" y="652275"/>
                  <a:pt x="11363091" y="1531476"/>
                  <a:pt x="11414106" y="2360939"/>
                </a:cubicBezTo>
                <a:cubicBezTo>
                  <a:pt x="11427932" y="2579799"/>
                  <a:pt x="11433644" y="2800687"/>
                  <a:pt x="11427598" y="3022918"/>
                </a:cubicBezTo>
                <a:cubicBezTo>
                  <a:pt x="11393176" y="4286859"/>
                  <a:pt x="10977952" y="5594221"/>
                  <a:pt x="9507339" y="6818588"/>
                </a:cubicBezTo>
                <a:lnTo>
                  <a:pt x="9458552" y="6858001"/>
                </a:lnTo>
                <a:lnTo>
                  <a:pt x="0" y="6858001"/>
                </a:ln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F539D3-3C02-4EDE-8291-375F97A20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417925">
            <a:off x="7129332" y="1277529"/>
            <a:ext cx="5553331" cy="4302939"/>
          </a:xfrm>
          <a:custGeom>
            <a:avLst/>
            <a:gdLst>
              <a:gd name="connsiteX0" fmla="*/ 4594048 w 9861488"/>
              <a:gd name="connsiteY0" fmla="*/ 11458472 h 11458472"/>
              <a:gd name="connsiteX1" fmla="*/ 0 w 9861488"/>
              <a:gd name="connsiteY1" fmla="*/ 5948221 h 11458472"/>
              <a:gd name="connsiteX2" fmla="*/ 1863 w 9861488"/>
              <a:gd name="connsiteY2" fmla="*/ 5698862 h 11458472"/>
              <a:gd name="connsiteX3" fmla="*/ 320025 w 9861488"/>
              <a:gd name="connsiteY3" fmla="*/ 3799836 h 11458472"/>
              <a:gd name="connsiteX4" fmla="*/ 3430486 w 9861488"/>
              <a:gd name="connsiteY4" fmla="*/ 295907 h 11458472"/>
              <a:gd name="connsiteX5" fmla="*/ 3863859 w 9861488"/>
              <a:gd name="connsiteY5" fmla="*/ 55612 h 11458472"/>
              <a:gd name="connsiteX6" fmla="*/ 3969651 w 9861488"/>
              <a:gd name="connsiteY6" fmla="*/ 0 h 11458472"/>
              <a:gd name="connsiteX7" fmla="*/ 9861488 w 9861488"/>
              <a:gd name="connsiteY7" fmla="*/ 7066862 h 11458472"/>
              <a:gd name="connsiteX8" fmla="*/ 4594048 w 9861488"/>
              <a:gd name="connsiteY8" fmla="*/ 11458472 h 11458472"/>
              <a:gd name="connsiteX0" fmla="*/ 0 w 9861488"/>
              <a:gd name="connsiteY0" fmla="*/ 5948221 h 11549912"/>
              <a:gd name="connsiteX1" fmla="*/ 1863 w 9861488"/>
              <a:gd name="connsiteY1" fmla="*/ 5698862 h 11549912"/>
              <a:gd name="connsiteX2" fmla="*/ 320025 w 9861488"/>
              <a:gd name="connsiteY2" fmla="*/ 3799836 h 11549912"/>
              <a:gd name="connsiteX3" fmla="*/ 3430486 w 9861488"/>
              <a:gd name="connsiteY3" fmla="*/ 295907 h 11549912"/>
              <a:gd name="connsiteX4" fmla="*/ 3863859 w 9861488"/>
              <a:gd name="connsiteY4" fmla="*/ 55612 h 11549912"/>
              <a:gd name="connsiteX5" fmla="*/ 3969651 w 9861488"/>
              <a:gd name="connsiteY5" fmla="*/ 0 h 11549912"/>
              <a:gd name="connsiteX6" fmla="*/ 9861488 w 9861488"/>
              <a:gd name="connsiteY6" fmla="*/ 7066862 h 11549912"/>
              <a:gd name="connsiteX7" fmla="*/ 4685488 w 9861488"/>
              <a:gd name="connsiteY7" fmla="*/ 11549912 h 11549912"/>
              <a:gd name="connsiteX0" fmla="*/ 0 w 9861488"/>
              <a:gd name="connsiteY0" fmla="*/ 5948221 h 7066862"/>
              <a:gd name="connsiteX1" fmla="*/ 1863 w 9861488"/>
              <a:gd name="connsiteY1" fmla="*/ 5698862 h 7066862"/>
              <a:gd name="connsiteX2" fmla="*/ 320025 w 9861488"/>
              <a:gd name="connsiteY2" fmla="*/ 3799836 h 7066862"/>
              <a:gd name="connsiteX3" fmla="*/ 3430486 w 9861488"/>
              <a:gd name="connsiteY3" fmla="*/ 295907 h 7066862"/>
              <a:gd name="connsiteX4" fmla="*/ 3863859 w 9861488"/>
              <a:gd name="connsiteY4" fmla="*/ 55612 h 7066862"/>
              <a:gd name="connsiteX5" fmla="*/ 3969651 w 9861488"/>
              <a:gd name="connsiteY5" fmla="*/ 0 h 7066862"/>
              <a:gd name="connsiteX6" fmla="*/ 9861488 w 9861488"/>
              <a:gd name="connsiteY6" fmla="*/ 7066862 h 7066862"/>
              <a:gd name="connsiteX0" fmla="*/ 0 w 3969651"/>
              <a:gd name="connsiteY0" fmla="*/ 5948221 h 5948221"/>
              <a:gd name="connsiteX1" fmla="*/ 1863 w 3969651"/>
              <a:gd name="connsiteY1" fmla="*/ 5698862 h 5948221"/>
              <a:gd name="connsiteX2" fmla="*/ 320025 w 3969651"/>
              <a:gd name="connsiteY2" fmla="*/ 3799836 h 5948221"/>
              <a:gd name="connsiteX3" fmla="*/ 3430486 w 3969651"/>
              <a:gd name="connsiteY3" fmla="*/ 295907 h 5948221"/>
              <a:gd name="connsiteX4" fmla="*/ 3863859 w 3969651"/>
              <a:gd name="connsiteY4" fmla="*/ 55612 h 5948221"/>
              <a:gd name="connsiteX5" fmla="*/ 3969651 w 3969651"/>
              <a:gd name="connsiteY5" fmla="*/ 0 h 59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69651" h="5948221">
                <a:moveTo>
                  <a:pt x="0" y="5948221"/>
                </a:moveTo>
                <a:lnTo>
                  <a:pt x="1863" y="5698862"/>
                </a:lnTo>
                <a:cubicBezTo>
                  <a:pt x="27184" y="5017139"/>
                  <a:pt x="133214" y="4368297"/>
                  <a:pt x="320025" y="3799836"/>
                </a:cubicBezTo>
                <a:cubicBezTo>
                  <a:pt x="810579" y="2305232"/>
                  <a:pt x="2027133" y="1118138"/>
                  <a:pt x="3430486" y="295907"/>
                </a:cubicBezTo>
                <a:cubicBezTo>
                  <a:pt x="3545941" y="228312"/>
                  <a:pt x="3692079" y="146862"/>
                  <a:pt x="3863859" y="55612"/>
                </a:cubicBezTo>
                <a:lnTo>
                  <a:pt x="3969651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0169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PebbleVTI</vt:lpstr>
      <vt:lpstr>АО С3 Центр-Инвест,  ООО ПИР-М, ИК Элемент</vt:lpstr>
      <vt:lpstr>Основными направлениями деятельности АО СЗ "Центр-Инвест» являются инвестирование в строительство жилых и нежилых объектов, осуществление функций заказчика и оказание услуг по реализации недвижимости. </vt:lpstr>
      <vt:lpstr>Вакансия от АО С3 Центр-Инвест</vt:lpstr>
      <vt:lpstr>Компания ООО «ПИР-М» специализируется на проектно-изыскательских работах и выполнении функций технического заказчика объектов градостроительной деятельности и архитектуры города Москвы.</vt:lpstr>
      <vt:lpstr>Вакансия от ООО ПИР-М</vt:lpstr>
      <vt:lpstr>Инжиниринговая компания «Элемент»  — один из лидеров российского рынка в сфере управления инвестиционно-строительными проектами. С 2014 года мы реализуем проекты в различных сегментах недвижимости и инфраструктуры, включая: коммерческую недвижимость промышленные объекты спортивные сооружения жилое строительство инфраструктурные комплексы и другие направления </vt:lpstr>
      <vt:lpstr>Вакансия от  ИК Элемент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С3 Центр-Инвест,  ООО ПИР-М, ИК Элемент</dc:title>
  <dc:creator/>
  <cp:lastModifiedBy>Azamat Mukhashev</cp:lastModifiedBy>
  <cp:revision>69</cp:revision>
  <dcterms:created xsi:type="dcterms:W3CDTF">2025-10-05T16:16:20Z</dcterms:created>
  <dcterms:modified xsi:type="dcterms:W3CDTF">2025-10-05T16:45:44Z</dcterms:modified>
</cp:coreProperties>
</file>